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0" r:id="rId6"/>
    <p:sldId id="262" r:id="rId7"/>
    <p:sldId id="264" r:id="rId8"/>
    <p:sldId id="265" r:id="rId9"/>
    <p:sldId id="267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rPr lang="en-US" sz="1600" b="1" dirty="0">
                <a:solidFill>
                  <a:srgbClr val="1B2A4A"/>
                </a:solidFill>
              </a:rPr>
              <a:t>Fuel Price (GHS/L) vs Exchange Rate (GHS/USD)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Fuel Price (GHS/L)</c:v>
          </c:tx>
          <c:spPr>
            <a:ln w="28575">
              <a:solidFill>
                <a:srgbClr val="1B6B93"/>
              </a:solidFill>
            </a:ln>
          </c:spPr>
          <c:marker>
            <c:symbol val="circle"/>
            <c:size val="5"/>
            <c:spPr>
              <a:solidFill>
                <a:srgbClr val="1B6B93"/>
              </a:solidFill>
            </c:spPr>
          </c:marker>
          <c:cat>
            <c:strLit>
              <c:ptCount val="15"/>
              <c:pt idx="0">
                <c:v>1990</c:v>
              </c:pt>
              <c:pt idx="1">
                <c:v>1995</c:v>
              </c:pt>
              <c:pt idx="2">
                <c:v>2000</c:v>
              </c:pt>
              <c:pt idx="3">
                <c:v>2005</c:v>
              </c:pt>
              <c:pt idx="4">
                <c:v>2007</c:v>
              </c:pt>
              <c:pt idx="5">
                <c:v>2010</c:v>
              </c:pt>
              <c:pt idx="6">
                <c:v>2013</c:v>
              </c:pt>
              <c:pt idx="7">
                <c:v>2015</c:v>
              </c:pt>
              <c:pt idx="8">
                <c:v>2018</c:v>
              </c:pt>
              <c:pt idx="9">
                <c:v>2020</c:v>
              </c:pt>
              <c:pt idx="10">
                <c:v>2022</c:v>
              </c:pt>
              <c:pt idx="11">
                <c:v>2023</c:v>
              </c:pt>
              <c:pt idx="12">
                <c:v>2024</c:v>
              </c:pt>
              <c:pt idx="13">
                <c:v>2025</c:v>
              </c:pt>
              <c:pt idx="14">
                <c:v>2026</c:v>
              </c:pt>
            </c:strLit>
          </c:cat>
          <c:val>
            <c:numLit>
              <c:formatCode>General</c:formatCode>
              <c:ptCount val="15"/>
              <c:pt idx="0">
                <c:v>1E-4</c:v>
              </c:pt>
              <c:pt idx="1">
                <c:v>1.5E-3</c:v>
              </c:pt>
              <c:pt idx="2">
                <c:v>1.2E-2</c:v>
              </c:pt>
              <c:pt idx="3">
                <c:v>8.5000000000000006E-2</c:v>
              </c:pt>
              <c:pt idx="4">
                <c:v>0.98</c:v>
              </c:pt>
              <c:pt idx="5">
                <c:v>1.5</c:v>
              </c:pt>
              <c:pt idx="6">
                <c:v>2.35</c:v>
              </c:pt>
              <c:pt idx="7">
                <c:v>3.5</c:v>
              </c:pt>
              <c:pt idx="8">
                <c:v>4.95</c:v>
              </c:pt>
              <c:pt idx="9">
                <c:v>4.9000000000000004</c:v>
              </c:pt>
              <c:pt idx="10">
                <c:v>9.8000000000000007</c:v>
              </c:pt>
              <c:pt idx="11">
                <c:v>13.5</c:v>
              </c:pt>
              <c:pt idx="12">
                <c:v>14</c:v>
              </c:pt>
              <c:pt idx="13">
                <c:v>15</c:v>
              </c:pt>
              <c:pt idx="14">
                <c:v>19.79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3405-4829-9EB2-64C12C117A8F}"/>
            </c:ext>
          </c:extLst>
        </c:ser>
        <c:ser>
          <c:idx val="1"/>
          <c:order val="1"/>
          <c:tx>
            <c:v>Exchange Rate (GHS/USD)</c:v>
          </c:tx>
          <c:spPr>
            <a:ln w="28575">
              <a:solidFill>
                <a:srgbClr val="E8A838"/>
              </a:solidFill>
              <a:prstDash val="dash"/>
            </a:ln>
          </c:spPr>
          <c:marker>
            <c:symbol val="diamond"/>
            <c:size val="5"/>
            <c:spPr>
              <a:solidFill>
                <a:srgbClr val="E8A838"/>
              </a:solidFill>
            </c:spPr>
          </c:marker>
          <c:cat>
            <c:strLit>
              <c:ptCount val="15"/>
              <c:pt idx="0">
                <c:v>1990</c:v>
              </c:pt>
              <c:pt idx="1">
                <c:v>1995</c:v>
              </c:pt>
              <c:pt idx="2">
                <c:v>2000</c:v>
              </c:pt>
              <c:pt idx="3">
                <c:v>2005</c:v>
              </c:pt>
              <c:pt idx="4">
                <c:v>2007</c:v>
              </c:pt>
              <c:pt idx="5">
                <c:v>2010</c:v>
              </c:pt>
              <c:pt idx="6">
                <c:v>2013</c:v>
              </c:pt>
              <c:pt idx="7">
                <c:v>2015</c:v>
              </c:pt>
              <c:pt idx="8">
                <c:v>2018</c:v>
              </c:pt>
              <c:pt idx="9">
                <c:v>2020</c:v>
              </c:pt>
              <c:pt idx="10">
                <c:v>2022</c:v>
              </c:pt>
              <c:pt idx="11">
                <c:v>2023</c:v>
              </c:pt>
              <c:pt idx="12">
                <c:v>2024</c:v>
              </c:pt>
              <c:pt idx="13">
                <c:v>2025</c:v>
              </c:pt>
              <c:pt idx="14">
                <c:v>2026</c:v>
              </c:pt>
            </c:strLit>
          </c:cat>
          <c:val>
            <c:numLit>
              <c:formatCode>General</c:formatCode>
              <c:ptCount val="15"/>
              <c:pt idx="0">
                <c:v>3.3000000000000002E-2</c:v>
              </c:pt>
              <c:pt idx="1">
                <c:v>0.12</c:v>
              </c:pt>
              <c:pt idx="2">
                <c:v>0.54500000000000004</c:v>
              </c:pt>
              <c:pt idx="3">
                <c:v>0.90500000000000003</c:v>
              </c:pt>
              <c:pt idx="4">
                <c:v>0.93300000000000005</c:v>
              </c:pt>
              <c:pt idx="5">
                <c:v>1.43</c:v>
              </c:pt>
              <c:pt idx="6">
                <c:v>1.9810000000000001</c:v>
              </c:pt>
              <c:pt idx="7">
                <c:v>3.7149999999999999</c:v>
              </c:pt>
              <c:pt idx="8">
                <c:v>4.585</c:v>
              </c:pt>
              <c:pt idx="9">
                <c:v>5.5960000000000001</c:v>
              </c:pt>
              <c:pt idx="10">
                <c:v>8.2720000000000002</c:v>
              </c:pt>
              <c:pt idx="11">
                <c:v>11.02</c:v>
              </c:pt>
              <c:pt idx="12">
                <c:v>14.182</c:v>
              </c:pt>
              <c:pt idx="13">
                <c:v>16.5</c:v>
              </c:pt>
              <c:pt idx="14">
                <c:v>17.5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3405-4829-9EB2-64C12C117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rPr lang="en-US" sz="1600" b="1" dirty="0">
                <a:solidFill>
                  <a:srgbClr val="1B2A4A"/>
                </a:solidFill>
              </a:rPr>
              <a:t>Correlation with Fuel Price (r)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Correlation (r)</c:v>
          </c:tx>
          <c:invertIfNegative val="1"/>
          <c:dPt>
            <c:idx val="0"/>
            <c:invertIfNegative val="1"/>
            <c:bubble3D val="0"/>
            <c:spPr>
              <a:solidFill>
                <a:srgbClr val="1B6B93"/>
              </a:solidFill>
            </c:spPr>
            <c:extLst>
              <c:ext xmlns:c16="http://schemas.microsoft.com/office/drawing/2014/chart" uri="{C3380CC4-5D6E-409C-BE32-E72D297353CC}">
                <c16:uniqueId val="{00000001-771A-4668-A00F-882F1C25B228}"/>
              </c:ext>
            </c:extLst>
          </c:dPt>
          <c:dPt>
            <c:idx val="1"/>
            <c:invertIfNegative val="1"/>
            <c:bubble3D val="0"/>
            <c:spPr>
              <a:solidFill>
                <a:srgbClr val="1B6B93"/>
              </a:solidFill>
            </c:spPr>
            <c:extLst>
              <c:ext xmlns:c16="http://schemas.microsoft.com/office/drawing/2014/chart" uri="{C3380CC4-5D6E-409C-BE32-E72D297353CC}">
                <c16:uniqueId val="{00000003-771A-4668-A00F-882F1C25B228}"/>
              </c:ext>
            </c:extLst>
          </c:dPt>
          <c:dPt>
            <c:idx val="2"/>
            <c:invertIfNegative val="1"/>
            <c:bubble3D val="0"/>
            <c:spPr>
              <a:solidFill>
                <a:srgbClr val="2EAF7D"/>
              </a:solidFill>
            </c:spPr>
            <c:extLst>
              <c:ext xmlns:c16="http://schemas.microsoft.com/office/drawing/2014/chart" uri="{C3380CC4-5D6E-409C-BE32-E72D297353CC}">
                <c16:uniqueId val="{00000005-771A-4668-A00F-882F1C25B228}"/>
              </c:ext>
            </c:extLst>
          </c:dPt>
          <c:dPt>
            <c:idx val="3"/>
            <c:invertIfNegative val="1"/>
            <c:bubble3D val="0"/>
            <c:spPr>
              <a:solidFill>
                <a:srgbClr val="2EAF7D"/>
              </a:solidFill>
            </c:spPr>
            <c:extLst>
              <c:ext xmlns:c16="http://schemas.microsoft.com/office/drawing/2014/chart" uri="{C3380CC4-5D6E-409C-BE32-E72D297353CC}">
                <c16:uniqueId val="{00000007-771A-4668-A00F-882F1C25B228}"/>
              </c:ext>
            </c:extLst>
          </c:dPt>
          <c:dPt>
            <c:idx val="4"/>
            <c:invertIfNegative val="1"/>
            <c:bubble3D val="0"/>
            <c:spPr>
              <a:solidFill>
                <a:srgbClr val="E8A838"/>
              </a:solidFill>
            </c:spPr>
            <c:extLst>
              <c:ext xmlns:c16="http://schemas.microsoft.com/office/drawing/2014/chart" uri="{C3380CC4-5D6E-409C-BE32-E72D297353CC}">
                <c16:uniqueId val="{00000009-771A-4668-A00F-882F1C25B228}"/>
              </c:ext>
            </c:extLst>
          </c:dPt>
          <c:dPt>
            <c:idx val="5"/>
            <c:invertIfNegative val="1"/>
            <c:bubble3D val="0"/>
            <c:spPr>
              <a:solidFill>
                <a:srgbClr val="7B68AE"/>
              </a:solidFill>
            </c:spPr>
            <c:extLst>
              <c:ext xmlns:c16="http://schemas.microsoft.com/office/drawing/2014/chart" uri="{C3380CC4-5D6E-409C-BE32-E72D297353CC}">
                <c16:uniqueId val="{0000000B-771A-4668-A00F-882F1C25B2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Exchange Rate</c:v>
              </c:pt>
              <c:pt idx="1">
                <c:v>Population</c:v>
              </c:pt>
              <c:pt idx="2">
                <c:v>Crude Oil Price</c:v>
              </c:pt>
              <c:pt idx="3">
                <c:v>GDP per Capita</c:v>
              </c:pt>
              <c:pt idx="4">
                <c:v>Energy Use</c:v>
              </c:pt>
              <c:pt idx="5">
                <c:v>Inflation CPI</c:v>
              </c:pt>
            </c:strLit>
          </c:cat>
          <c:val>
            <c:numLit>
              <c:formatCode>General</c:formatCode>
              <c:ptCount val="6"/>
              <c:pt idx="0">
                <c:v>0.98699999999999999</c:v>
              </c:pt>
              <c:pt idx="1">
                <c:v>0.98099999999999998</c:v>
              </c:pt>
              <c:pt idx="2">
                <c:v>0.89100000000000001</c:v>
              </c:pt>
              <c:pt idx="3">
                <c:v>0.88200000000000001</c:v>
              </c:pt>
              <c:pt idx="4">
                <c:v>0.68799999999999994</c:v>
              </c:pt>
              <c:pt idx="5">
                <c:v>0.432</c:v>
              </c:pt>
            </c:numLit>
          </c:val>
          <c:extLst>
            <c:ext xmlns:c16="http://schemas.microsoft.com/office/drawing/2014/chart" uri="{C3380CC4-5D6E-409C-BE32-E72D297353CC}">
              <c16:uniqueId val="{0000000C-771A-4668-A00F-882F1C25B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rPr lang="en-US" sz="1600" b="1" dirty="0">
                <a:solidFill>
                  <a:srgbClr val="1B2A4A"/>
                </a:solidFill>
              </a:rPr>
              <a:t>Model Predictions by Scenario (GHS/L)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Optimistic</c:v>
          </c:tx>
          <c:spPr>
            <a:solidFill>
              <a:srgbClr val="2EAF7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ARIMA</c:v>
              </c:pt>
              <c:pt idx="1">
                <c:v>ML Ensemble</c:v>
              </c:pt>
              <c:pt idx="2">
                <c:v>Deep Learning</c:v>
              </c:pt>
              <c:pt idx="3">
                <c:v>Final Ensemble</c:v>
              </c:pt>
            </c:strLit>
          </c:cat>
          <c:val>
            <c:numLit>
              <c:formatCode>General</c:formatCode>
              <c:ptCount val="4"/>
              <c:pt idx="0">
                <c:v>16.21</c:v>
              </c:pt>
              <c:pt idx="1">
                <c:v>15.92</c:v>
              </c:pt>
              <c:pt idx="2">
                <c:v>10.15</c:v>
              </c:pt>
              <c:pt idx="3">
                <c:v>15.73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7A7-40CA-AD4D-020EBF2AE947}"/>
            </c:ext>
          </c:extLst>
        </c:ser>
        <c:ser>
          <c:idx val="1"/>
          <c:order val="1"/>
          <c:tx>
            <c:v>Base Case</c:v>
          </c:tx>
          <c:spPr>
            <a:solidFill>
              <a:srgbClr val="1B6B9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ARIMA</c:v>
              </c:pt>
              <c:pt idx="1">
                <c:v>ML Ensemble</c:v>
              </c:pt>
              <c:pt idx="2">
                <c:v>Deep Learning</c:v>
              </c:pt>
              <c:pt idx="3">
                <c:v>Final Ensemble</c:v>
              </c:pt>
            </c:strLit>
          </c:cat>
          <c:val>
            <c:numLit>
              <c:formatCode>General</c:formatCode>
              <c:ptCount val="4"/>
              <c:pt idx="0">
                <c:v>20.190000000000001</c:v>
              </c:pt>
              <c:pt idx="1">
                <c:v>20.22</c:v>
              </c:pt>
              <c:pt idx="2">
                <c:v>18.14</c:v>
              </c:pt>
              <c:pt idx="3">
                <c:v>19.79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7A7-40CA-AD4D-020EBF2AE947}"/>
            </c:ext>
          </c:extLst>
        </c:ser>
        <c:ser>
          <c:idx val="2"/>
          <c:order val="2"/>
          <c:tx>
            <c:v>Pessimistic</c:v>
          </c:tx>
          <c:spPr>
            <a:solidFill>
              <a:srgbClr val="D6404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ARIMA</c:v>
              </c:pt>
              <c:pt idx="1">
                <c:v>ML Ensemble</c:v>
              </c:pt>
              <c:pt idx="2">
                <c:v>Deep Learning</c:v>
              </c:pt>
              <c:pt idx="3">
                <c:v>Final Ensemble</c:v>
              </c:pt>
            </c:strLit>
          </c:cat>
          <c:val>
            <c:numLit>
              <c:formatCode>General</c:formatCode>
              <c:ptCount val="4"/>
              <c:pt idx="0">
                <c:v>25.14</c:v>
              </c:pt>
              <c:pt idx="1">
                <c:v>25.27</c:v>
              </c:pt>
              <c:pt idx="2">
                <c:v>26.13</c:v>
              </c:pt>
              <c:pt idx="3">
                <c:v>25.24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7A7-40CA-AD4D-020EBF2AE9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0387-0926-8F96-D9D4-3F2DA1132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6BBCC-B76C-E9BC-C109-8678B4763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EEFC0-6ADA-DC6E-E3C8-0EA5A85A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2753A-DE75-8F34-5821-1618D7DD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9675D-137F-32B5-B141-CC9563C2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8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55D3-C50D-FECF-4B72-88EA06E4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AE309-50CA-8E2B-09BF-B07345CF6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6362-1276-421F-BA24-15A8A1DC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7CC06-B4B0-CE46-9730-2AC9B875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F217F-8D7F-1DDA-EB03-ECED0017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0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33E9-F1C7-28CB-1CB4-E4020587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9AAAD-E5D6-4B7B-6B63-05272B18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1F3A-E8F9-2367-3305-E5D58317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74601-8200-CAA6-613D-C20C90A4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D522-F5B0-AE2F-1410-AF63F2AB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0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D0FA-2888-C25A-7308-C24B8FE0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E71D-F4F0-E27F-4F76-B8A602834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3A39-3C3C-F547-1AFD-C7F084470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B02C-6813-7A1C-FD87-8A464C0B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69F8A-7BB9-F877-D129-BCFA98981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651E9-2A75-553A-8EDA-E28B8E2C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7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015-E8C5-388B-EAE3-CCEB3DCC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488AF-DBB5-DDAF-C3F4-2E46236CF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01DA1-2AA9-67B4-B696-66ED20ABC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0D0CA-0B38-E008-47C3-EF1B0CED5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4D1FF-E435-B821-031B-20AB58A337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F0C8D-3BE2-3AFA-6DF0-8BAC6D93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9F953-8016-1C55-217C-2A5C6007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53CC9D-0305-020B-BC2D-4EDAF103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9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4F2D-41A9-702B-CFEA-D82FD557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16736-21E9-D4E5-BFBC-2E2C2A5F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24253-53FF-018F-EDA2-D4925E65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A0BAC-CECB-A227-4C3D-194BF461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1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C179B-2EFB-F882-B8C8-2361F223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5D443-329D-14C1-432F-9FB186FE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0CB11-F88E-C480-0956-668A8CA8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D3C5-B554-6359-3011-F0C9EDED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64FD-8D8E-B6F2-8C36-9A7300187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7D47C-4618-B989-D852-A25FCE3EF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3C1EC-506C-1A99-4A24-0D12CD04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0F87A-F8A0-8F44-719C-AB14FC98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36DEA-572E-0050-DAA8-4D34C8F6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8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A94F-A065-E0D3-3DD4-E766A27D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36CD3-C98F-C619-2AD7-1D015AE98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F7A7D-7F23-5502-6EA6-CC430AA06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86660-CA09-9188-3CC3-C694C851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73839-DA0E-75D1-2971-7B1AB761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237BF-D688-1243-9796-77BCE296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7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39CA-F1F1-97E9-6EB7-9204CC51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B4540-48E6-8CDC-B79A-74BB1FFB1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190E-73C2-1C1B-01AF-0AA42419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B2DE-FB40-F071-0171-B72820D6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B98E1-6F0D-748B-3674-CC8552CD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5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67988-7FFE-CADB-415B-0613D3E03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C175E-208B-C464-50DB-7A3EA5963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08C1C-5914-F6AA-4F7D-1287661E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B6C1-45B6-63F9-A0BF-1A01CAC4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7890F-5EFF-1B36-EC53-02C3AF55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4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91444-8A47-440C-53CF-FBAB6B0A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0219B-DE72-70CD-6777-3E0CEF11D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5B172-6A97-F4D9-F615-0999FA429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B1AD9-8632-4CA4-B8F1-5A85C24228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B5D51-3AC9-57FD-D2AE-D7428003B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314ED-938B-58C0-8C28-A8F110F32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EB903-AD48-4F8E-A728-1718D6B70AEB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1B6B93"/>
              </a:gs>
              <a:gs pos="50000">
                <a:srgbClr val="2EAF7D"/>
              </a:gs>
              <a:gs pos="100000">
                <a:srgbClr val="E8A838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6B9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8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E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E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E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0BBE-6531-48E7-2305-7B43BC4EC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Ghana Fuel Price Forecast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F5317-5261-8EC4-BEDE-1DF7AFFBF2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Predictive Analysis Using Statistical, Machine Learning &amp;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385839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653108-1A8B-41FD-9563-385ED93D2329}"/>
              </a:ext>
            </a:extLst>
          </p:cNvPr>
          <p:cNvSpPr/>
          <p:nvPr/>
        </p:nvSpPr>
        <p:spPr>
          <a:xfrm>
            <a:off x="3556000" y="1397000"/>
            <a:ext cx="5080000" cy="1651000"/>
          </a:xfrm>
          <a:prstGeom prst="round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GHS 19.79 / Litre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A000D-07E6-4B9A-B265-3FD03A21A6AA}"/>
              </a:ext>
            </a:extLst>
          </p:cNvPr>
          <p:cNvSpPr txBox="1"/>
          <p:nvPr/>
        </p:nvSpPr>
        <p:spPr>
          <a:xfrm>
            <a:off x="3556000" y="3111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2D3E5F"/>
                </a:solidFill>
              </a:rPr>
              <a:t>2026 Central Forecast  |  ≈ $1.13 USD/L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9DD930-5F87-4215-8445-63D1D27D9F1E}"/>
              </a:ext>
            </a:extLst>
          </p:cNvPr>
          <p:cNvSpPr/>
          <p:nvPr/>
        </p:nvSpPr>
        <p:spPr>
          <a:xfrm>
            <a:off x="635000" y="3683000"/>
            <a:ext cx="3429000" cy="1016000"/>
          </a:xfrm>
          <a:prstGeom prst="round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6B7B8D"/>
                </a:solidFill>
                <a:latin typeface="Segoe UI"/>
              </a:rPr>
              <a:t>Confidence Range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1B2A4A"/>
                </a:solidFill>
                <a:latin typeface="Segoe UI Semibold"/>
              </a:rPr>
              <a:t>GHS 15.53 – 23.48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2EFE6-6411-4621-983F-8B00178F41F9}"/>
              </a:ext>
            </a:extLst>
          </p:cNvPr>
          <p:cNvSpPr/>
          <p:nvPr/>
        </p:nvSpPr>
        <p:spPr>
          <a:xfrm>
            <a:off x="762000" y="3746500"/>
            <a:ext cx="635000" cy="50800"/>
          </a:xfrm>
          <a:prstGeom prst="rect">
            <a:avLst/>
          </a:prstGeom>
          <a:solidFill>
            <a:srgbClr val="2EAF7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00E0E5-318B-40CD-BB97-18CFC38038F6}"/>
              </a:ext>
            </a:extLst>
          </p:cNvPr>
          <p:cNvSpPr/>
          <p:nvPr/>
        </p:nvSpPr>
        <p:spPr>
          <a:xfrm>
            <a:off x="4381500" y="3683000"/>
            <a:ext cx="3429000" cy="1016000"/>
          </a:xfrm>
          <a:prstGeom prst="round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6B7B8D"/>
                </a:solidFill>
                <a:latin typeface="Segoe UI"/>
              </a:rPr>
              <a:t>Change vs. 2025</a:t>
            </a:r>
          </a:p>
          <a:p>
            <a:pPr algn="ctr">
              <a:buNone/>
            </a:pPr>
            <a:r>
              <a:rPr lang="en-US" sz="2400" b="1" dirty="0">
                <a:solidFill>
                  <a:srgbClr val="E8A838"/>
                </a:solidFill>
                <a:latin typeface="Segoe UI Semibold"/>
              </a:rPr>
              <a:t>+31.9%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1FCEE-88D5-43EA-B62F-550FB8577307}"/>
              </a:ext>
            </a:extLst>
          </p:cNvPr>
          <p:cNvSpPr/>
          <p:nvPr/>
        </p:nvSpPr>
        <p:spPr>
          <a:xfrm>
            <a:off x="4508500" y="3746500"/>
            <a:ext cx="635000" cy="50800"/>
          </a:xfrm>
          <a:prstGeom prst="rect">
            <a:avLst/>
          </a:prstGeom>
          <a:solidFill>
            <a:srgbClr val="E8A83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DCDF30-B9E9-4B82-8F0B-F1399F3C4D85}"/>
              </a:ext>
            </a:extLst>
          </p:cNvPr>
          <p:cNvSpPr/>
          <p:nvPr/>
        </p:nvSpPr>
        <p:spPr>
          <a:xfrm>
            <a:off x="8128000" y="3683000"/>
            <a:ext cx="3429000" cy="1016000"/>
          </a:xfrm>
          <a:prstGeom prst="round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6B7B8D"/>
                </a:solidFill>
                <a:latin typeface="Segoe UI"/>
              </a:rPr>
              <a:t>All Models Converge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7B68AE"/>
                </a:solidFill>
                <a:latin typeface="Segoe UI Semibold"/>
              </a:rPr>
              <a:t>GHS 18 – 21/L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9CDE96-FDFE-4A0A-8978-D180EB24E9E3}"/>
              </a:ext>
            </a:extLst>
          </p:cNvPr>
          <p:cNvSpPr/>
          <p:nvPr/>
        </p:nvSpPr>
        <p:spPr>
          <a:xfrm>
            <a:off x="8255000" y="3746500"/>
            <a:ext cx="635000" cy="50800"/>
          </a:xfrm>
          <a:prstGeom prst="rect">
            <a:avLst/>
          </a:prstGeom>
          <a:solidFill>
            <a:srgbClr val="7B68A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6F2CD-93D3-48D6-9228-528813293AC6}"/>
              </a:ext>
            </a:extLst>
          </p:cNvPr>
          <p:cNvSpPr txBox="1"/>
          <p:nvPr/>
        </p:nvSpPr>
        <p:spPr>
          <a:xfrm>
            <a:off x="508000" y="317500"/>
            <a:ext cx="1117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Executive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F35ED-2603-4040-A25D-456BCE445378}"/>
              </a:ext>
            </a:extLst>
          </p:cNvPr>
          <p:cNvSpPr txBox="1"/>
          <p:nvPr/>
        </p:nvSpPr>
        <p:spPr>
          <a:xfrm>
            <a:off x="508000" y="4953000"/>
            <a:ext cx="1117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B8D"/>
                </a:solidFill>
              </a:rPr>
              <a:t>Methodology: 40% ARIMA  +  40% ML Ensemble  +  20% Deep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5976A-8911-4588-9863-0346B85A9C74}"/>
              </a:ext>
            </a:extLst>
          </p:cNvPr>
          <p:cNvSpPr/>
          <p:nvPr/>
        </p:nvSpPr>
        <p:spPr>
          <a:xfrm>
            <a:off x="508000" y="990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5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00E0A2-342D-40D0-A2F8-CE408E708427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BB429-FD85-48F7-B707-013495D8CF2C}"/>
              </a:ext>
            </a:extLst>
          </p:cNvPr>
          <p:cNvSpPr txBox="1"/>
          <p:nvPr/>
        </p:nvSpPr>
        <p:spPr>
          <a:xfrm>
            <a:off x="7620000" y="1079500"/>
            <a:ext cx="419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3E5F"/>
                </a:solidFill>
              </a:rPr>
              <a:t>The Cedi depreciated 430× since 1990,
driving fuel prices from GHS 0.0001
to GHS 15/L in 2025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381000" y="2133600"/>
          <a:ext cx="7620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AC340C-C4D9-4253-A1C2-6192C4A833AE}"/>
              </a:ext>
            </a:extLst>
          </p:cNvPr>
          <p:cNvSpPr txBox="1"/>
          <p:nvPr/>
        </p:nvSpPr>
        <p:spPr>
          <a:xfrm>
            <a:off x="508000" y="317500"/>
            <a:ext cx="698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Historical Fuel Price Trajectory</a:t>
            </a:r>
          </a:p>
        </p:txBody>
      </p:sp>
    </p:spTree>
    <p:extLst>
      <p:ext uri="{BB962C8B-B14F-4D97-AF65-F5344CB8AC3E}">
        <p14:creationId xmlns:p14="http://schemas.microsoft.com/office/powerpoint/2010/main" val="421412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0B3F99-C65E-4D88-8B27-B556BA91A945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101" name="Chart 1"/>
          <p:cNvGraphicFramePr/>
          <p:nvPr/>
        </p:nvGraphicFramePr>
        <p:xfrm>
          <a:off x="228600" y="1066800"/>
          <a:ext cx="59436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Insight 0"/>
          <p:cNvSpPr txBox="1"/>
          <p:nvPr/>
        </p:nvSpPr>
        <p:spPr>
          <a:xfrm>
            <a:off x="8229600" y="1066800"/>
            <a:ext cx="3505200" cy="1371600"/>
          </a:xfrm>
          <a:prstGeom prst="roundRect">
            <a:avLst/>
          </a:prstGeom>
          <a:solidFill>
            <a:srgbClr val="F0F3F7"/>
          </a:solidFill>
          <a:ln w="0">
            <a:noFill/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400" b="1" dirty="0">
                <a:solidFill>
                  <a:srgbClr val="1B6B93"/>
                </a:solidFill>
              </a:rPr>
              <a:t>Exchange Rate = #1 Driver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</a:rPr>
              <a:t>r = 0.987 — nearly perfect correlation. Cedi depreciation alone explains fuel price surge.</a:t>
            </a:r>
          </a:p>
        </p:txBody>
      </p:sp>
      <p:sp>
        <p:nvSpPr>
          <p:cNvPr id="201" name="Insight 1"/>
          <p:cNvSpPr txBox="1"/>
          <p:nvPr/>
        </p:nvSpPr>
        <p:spPr>
          <a:xfrm>
            <a:off x="8229600" y="2743200"/>
            <a:ext cx="3505200" cy="1371600"/>
          </a:xfrm>
          <a:prstGeom prst="roundRect">
            <a:avLst/>
          </a:prstGeom>
          <a:solidFill>
            <a:srgbClr val="F0F3F7"/>
          </a:solidFill>
          <a:ln w="0">
            <a:noFill/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400" b="1" dirty="0">
                <a:solidFill>
                  <a:srgbClr val="2EAF7D"/>
                </a:solidFill>
              </a:rPr>
              <a:t>USD Price Stable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</a:rPr>
              <a:t>Fuel costs $0.88–$1.25/L in USD terms. GHS surge is purely a currency phenomenon.</a:t>
            </a:r>
          </a:p>
        </p:txBody>
      </p:sp>
      <p:sp>
        <p:nvSpPr>
          <p:cNvPr id="202" name="Insight 2"/>
          <p:cNvSpPr txBox="1"/>
          <p:nvPr/>
        </p:nvSpPr>
        <p:spPr>
          <a:xfrm>
            <a:off x="8229600" y="4419600"/>
            <a:ext cx="3505200" cy="1371600"/>
          </a:xfrm>
          <a:prstGeom prst="roundRect">
            <a:avLst/>
          </a:prstGeom>
          <a:solidFill>
            <a:srgbClr val="F0F3F7"/>
          </a:solidFill>
          <a:ln w="0">
            <a:noFill/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400" b="1" dirty="0">
                <a:solidFill>
                  <a:srgbClr val="D64045"/>
                </a:solidFill>
              </a:rPr>
              <a:t>GDP Growth Irrelevant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</a:rPr>
              <a:t>p = 0.38 — no statistical significance. Fuel pricing is an import/FX story.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057D6-99DB-46F7-B45C-32BD488DE771}"/>
              </a:ext>
            </a:extLst>
          </p:cNvPr>
          <p:cNvSpPr txBox="1"/>
          <p:nvPr/>
        </p:nvSpPr>
        <p:spPr>
          <a:xfrm>
            <a:off x="508000" y="2540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Key Price Drivers</a:t>
            </a:r>
          </a:p>
        </p:txBody>
      </p:sp>
    </p:spTree>
    <p:extLst>
      <p:ext uri="{BB962C8B-B14F-4D97-AF65-F5344CB8AC3E}">
        <p14:creationId xmlns:p14="http://schemas.microsoft.com/office/powerpoint/2010/main" val="252603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30C8BF-C5E9-4EB5-8DBA-A2BED2099B92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991766-8804-4802-9878-AB868F79C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349777"/>
              </p:ext>
            </p:extLst>
          </p:nvPr>
        </p:nvGraphicFramePr>
        <p:xfrm>
          <a:off x="444500" y="1206500"/>
          <a:ext cx="10922000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07462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0171738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758115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273233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88509434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Model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Category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Prediction (GHS/L)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R²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Weight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39705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ARIMA(1,1,1)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Statistical Time Series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20.19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0.993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40%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4344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Log-Log 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Machine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18.96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0.997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68353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Machine Learning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21.76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0.987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10%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7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ML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ML Blend (OLS+RF)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20.22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0.994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4295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LSTM + Holt-Winters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Deep Learning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18.14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0.982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20%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9731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3FE0A0-D747-4DCD-A3CA-76280C5F6C7E}"/>
              </a:ext>
            </a:extLst>
          </p:cNvPr>
          <p:cNvSpPr txBox="1"/>
          <p:nvPr/>
        </p:nvSpPr>
        <p:spPr>
          <a:xfrm>
            <a:off x="444500" y="4191000"/>
            <a:ext cx="1130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D3E5F"/>
                </a:solidFill>
              </a:rPr>
              <a:t>All models independently converge on GHS 18–21/L, providing high confidence in the central forecast.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C0C7E-5FCC-418D-973E-5280D102A397}"/>
              </a:ext>
            </a:extLst>
          </p:cNvPr>
          <p:cNvSpPr txBox="1"/>
          <p:nvPr/>
        </p:nvSpPr>
        <p:spPr>
          <a:xfrm>
            <a:off x="508000" y="2540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Modeling Approach &amp; Results</a:t>
            </a:r>
          </a:p>
        </p:txBody>
      </p:sp>
    </p:spTree>
    <p:extLst>
      <p:ext uri="{BB962C8B-B14F-4D97-AF65-F5344CB8AC3E}">
        <p14:creationId xmlns:p14="http://schemas.microsoft.com/office/powerpoint/2010/main" val="3253193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386B6B-4BA4-44A6-B7A6-BBB926A701D6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101" name="Chart 1"/>
          <p:cNvGraphicFramePr/>
          <p:nvPr/>
        </p:nvGraphicFramePr>
        <p:xfrm>
          <a:off x="381000" y="1143000"/>
          <a:ext cx="114300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3903BA5-32D8-4917-B9B9-3DF227FCC70A}"/>
              </a:ext>
            </a:extLst>
          </p:cNvPr>
          <p:cNvSpPr txBox="1"/>
          <p:nvPr/>
        </p:nvSpPr>
        <p:spPr>
          <a:xfrm>
            <a:off x="508000" y="2540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2026 Forecast: Three Scenarios</a:t>
            </a:r>
          </a:p>
        </p:txBody>
      </p:sp>
    </p:spTree>
    <p:extLst>
      <p:ext uri="{BB962C8B-B14F-4D97-AF65-F5344CB8AC3E}">
        <p14:creationId xmlns:p14="http://schemas.microsoft.com/office/powerpoint/2010/main" val="1151478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1A2C84-C230-42F7-9471-628B92FE0CBF}"/>
              </a:ext>
            </a:extLst>
          </p:cNvPr>
          <p:cNvSpPr/>
          <p:nvPr/>
        </p:nvSpPr>
        <p:spPr>
          <a:xfrm>
            <a:off x="508000" y="863600"/>
            <a:ext cx="1524000" cy="50800"/>
          </a:xfrm>
          <a:prstGeom prst="rect">
            <a:avLst/>
          </a:prstGeom>
          <a:solidFill>
            <a:srgbClr val="1B6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F34423-4C3E-4E9C-967F-223B64272E1D}"/>
              </a:ext>
            </a:extLst>
          </p:cNvPr>
          <p:cNvGraphicFramePr>
            <a:graphicFrameLocks noGrp="1"/>
          </p:cNvGraphicFramePr>
          <p:nvPr/>
        </p:nvGraphicFramePr>
        <p:xfrm>
          <a:off x="444500" y="1206500"/>
          <a:ext cx="109220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77387058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4175057351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1668113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04555590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3681196289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Scenario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Exchange Rate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Crude Oil ($/bbl)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Inflation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Final Forecast</a:t>
                      </a:r>
                    </a:p>
                  </a:txBody>
                  <a:tcPr anchor="ctr">
                    <a:solidFill>
                      <a:srgbClr val="1B6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75054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AF7D"/>
                          </a:solidFill>
                          <a:latin typeface="Segoe UI"/>
                          <a:cs typeface="Segoe UI"/>
                        </a:rPr>
                        <a:t>Optimistic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16.0 GHS/USD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$60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EAF7D"/>
                          </a:solidFill>
                          <a:latin typeface="Segoe UI"/>
                          <a:cs typeface="Segoe UI"/>
                        </a:rPr>
                        <a:t>GHS 15.73/L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1342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B6B93"/>
                          </a:solidFill>
                          <a:latin typeface="Segoe UI"/>
                          <a:cs typeface="Segoe UI"/>
                        </a:rPr>
                        <a:t>Base Case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17.5 GHS/USD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$67.53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18%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B6B93"/>
                          </a:solidFill>
                          <a:latin typeface="Segoe UI"/>
                          <a:cs typeface="Segoe UI"/>
                        </a:rPr>
                        <a:t>GHS 19.79/L</a:t>
                      </a:r>
                    </a:p>
                  </a:txBody>
                  <a:tcPr anchor="ctr">
                    <a:solidFill>
                      <a:srgbClr val="F0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1152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D64045"/>
                          </a:solidFill>
                          <a:latin typeface="Segoe UI"/>
                          <a:cs typeface="Segoe UI"/>
                        </a:rPr>
                        <a:t>Pessimistic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19.0 GHS/USD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$75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1B2A4A"/>
                          </a:solidFill>
                          <a:latin typeface="Segoe UI"/>
                          <a:cs typeface="Segoe UI"/>
                        </a:rPr>
                        <a:t>25%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D64045"/>
                          </a:solidFill>
                          <a:latin typeface="Segoe UI"/>
                          <a:cs typeface="Segoe UI"/>
                        </a:rPr>
                        <a:t>GHS 25.24/L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788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570AF9-FA8C-49C8-811E-290E2D412BFF}"/>
              </a:ext>
            </a:extLst>
          </p:cNvPr>
          <p:cNvSpPr txBox="1"/>
          <p:nvPr/>
        </p:nvSpPr>
        <p:spPr>
          <a:xfrm>
            <a:off x="444500" y="3556000"/>
            <a:ext cx="1130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B8D"/>
                </a:solidFill>
              </a:rPr>
              <a:t>Ensemble Methodology: 40% ARIMA (trend) + 40% ML Ensemble (multivariate) + 20% Deep Learning (nonlinear patterns)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BBEEB-E21D-4EA7-A61A-2C2B71B44D85}"/>
              </a:ext>
            </a:extLst>
          </p:cNvPr>
          <p:cNvSpPr txBox="1"/>
          <p:nvPr/>
        </p:nvSpPr>
        <p:spPr>
          <a:xfrm>
            <a:off x="508000" y="254000"/>
            <a:ext cx="889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B2A4A"/>
                </a:solidFill>
              </a:rPr>
              <a:t>Scenario Assumptions &amp; Ensemble Forecast</a:t>
            </a:r>
          </a:p>
        </p:txBody>
      </p:sp>
    </p:spTree>
    <p:extLst>
      <p:ext uri="{BB962C8B-B14F-4D97-AF65-F5344CB8AC3E}">
        <p14:creationId xmlns:p14="http://schemas.microsoft.com/office/powerpoint/2010/main" val="148115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Box"/>
          <p:cNvSpPr txBox="1"/>
          <p:nvPr/>
        </p:nvSpPr>
        <p:spPr>
          <a:xfrm>
            <a:off x="457200" y="228600"/>
            <a:ext cx="11277600" cy="548640"/>
          </a:xfrm>
          <a:prstGeom prst="rect">
            <a:avLst/>
          </a:prstGeom>
          <a:noFill/>
        </p:spPr>
        <p:txBody>
          <a:bodyPr wrap="square" anchor="b"/>
          <a:lstStyle/>
          <a:p>
            <a:pPr>
              <a:buNone/>
            </a:pPr>
            <a:r>
              <a:rPr lang="en-US" sz="2800" b="1" dirty="0">
                <a:solidFill>
                  <a:srgbClr val="1B2A4A"/>
                </a:solidFill>
                <a:latin typeface="Segoe UI Semibold"/>
              </a:rPr>
              <a:t>Key Insights &amp; Implications</a:t>
            </a:r>
          </a:p>
        </p:txBody>
      </p:sp>
      <p:sp>
        <p:nvSpPr>
          <p:cNvPr id="501" name="Divider2"/>
          <p:cNvSpPr/>
          <p:nvPr/>
        </p:nvSpPr>
        <p:spPr>
          <a:xfrm>
            <a:off x="457200" y="822960"/>
            <a:ext cx="1524000" cy="45720"/>
          </a:xfrm>
          <a:prstGeom prst="rect">
            <a:avLst/>
          </a:prstGeom>
          <a:solidFill>
            <a:srgbClr val="1B6B9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" name="Card 0"/>
          <p:cNvSpPr/>
          <p:nvPr/>
        </p:nvSpPr>
        <p:spPr>
          <a:xfrm>
            <a:off x="609600" y="100584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1B6B93"/>
                </a:solidFill>
                <a:latin typeface="Segoe UI Semibold"/>
              </a:rPr>
              <a:t>Exchange Rate Dominance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r = 0.987 — Cedi depreciation is the single most powerful driver of GHS fuel prices.</a:t>
            </a:r>
          </a:p>
        </p:txBody>
      </p:sp>
      <p:sp>
        <p:nvSpPr>
          <p:cNvPr id="700" name="Num 0"/>
          <p:cNvSpPr/>
          <p:nvPr/>
        </p:nvSpPr>
        <p:spPr>
          <a:xfrm>
            <a:off x="723900" y="1409700"/>
            <a:ext cx="411480" cy="411480"/>
          </a:xfrm>
          <a:prstGeom prst="ellipse">
            <a:avLst/>
          </a:prstGeom>
          <a:solidFill>
            <a:srgbClr val="1B6B93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601" name="Card 1"/>
          <p:cNvSpPr/>
          <p:nvPr/>
        </p:nvSpPr>
        <p:spPr>
          <a:xfrm>
            <a:off x="6248400" y="100584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2EAF7D"/>
                </a:solidFill>
                <a:latin typeface="Segoe UI Semibold"/>
              </a:rPr>
              <a:t>USD Price Stability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Fuel costs $0.88–$1.25/L in USD. The GHS surge is a currency phenomenon, not a commodity one.</a:t>
            </a:r>
          </a:p>
        </p:txBody>
      </p:sp>
      <p:sp>
        <p:nvSpPr>
          <p:cNvPr id="701" name="Num 1"/>
          <p:cNvSpPr/>
          <p:nvPr/>
        </p:nvSpPr>
        <p:spPr>
          <a:xfrm>
            <a:off x="6362700" y="1409700"/>
            <a:ext cx="411480" cy="411480"/>
          </a:xfrm>
          <a:prstGeom prst="ellipse">
            <a:avLst/>
          </a:prstGeom>
          <a:solidFill>
            <a:srgbClr val="2EAF7D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602" name="Card 2"/>
          <p:cNvSpPr/>
          <p:nvPr/>
        </p:nvSpPr>
        <p:spPr>
          <a:xfrm>
            <a:off x="609600" y="240792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D64045"/>
                </a:solidFill>
                <a:latin typeface="Segoe UI Semibold"/>
              </a:rPr>
              <a:t>2022–23 Structural Break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Debt crisis crashed the Cedi from 5.8 to 11.0 GHS/USD, doubling fuel prices in 18 months.</a:t>
            </a:r>
          </a:p>
        </p:txBody>
      </p:sp>
      <p:sp>
        <p:nvSpPr>
          <p:cNvPr id="702" name="Num 2"/>
          <p:cNvSpPr/>
          <p:nvPr/>
        </p:nvSpPr>
        <p:spPr>
          <a:xfrm>
            <a:off x="723900" y="2811780"/>
            <a:ext cx="411480" cy="411480"/>
          </a:xfrm>
          <a:prstGeom prst="ellipse">
            <a:avLst/>
          </a:prstGeom>
          <a:solidFill>
            <a:srgbClr val="D64045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603" name="Card 3"/>
          <p:cNvSpPr/>
          <p:nvPr/>
        </p:nvSpPr>
        <p:spPr>
          <a:xfrm>
            <a:off x="6248400" y="240792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7B68AE"/>
                </a:solidFill>
                <a:latin typeface="Segoe UI Semibold"/>
              </a:rPr>
              <a:t>Model Convergence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All 3 independent models converge on GHS 18–21/L for 2026, giving high forecast confidence.</a:t>
            </a:r>
          </a:p>
        </p:txBody>
      </p:sp>
      <p:sp>
        <p:nvSpPr>
          <p:cNvPr id="703" name="Num 3"/>
          <p:cNvSpPr/>
          <p:nvPr/>
        </p:nvSpPr>
        <p:spPr>
          <a:xfrm>
            <a:off x="6362700" y="2811780"/>
            <a:ext cx="411480" cy="411480"/>
          </a:xfrm>
          <a:prstGeom prst="ellipse">
            <a:avLst/>
          </a:prstGeom>
          <a:solidFill>
            <a:srgbClr val="7B68AE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604" name="Card 4"/>
          <p:cNvSpPr/>
          <p:nvPr/>
        </p:nvSpPr>
        <p:spPr>
          <a:xfrm>
            <a:off x="609600" y="381000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E8A838"/>
                </a:solidFill>
                <a:latin typeface="Segoe UI Semibold"/>
              </a:rPr>
              <a:t>GDP Growth Irrelevant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p = 0.38 — economic growth has no significant effect. Purely an import/FX story.</a:t>
            </a:r>
          </a:p>
        </p:txBody>
      </p:sp>
      <p:sp>
        <p:nvSpPr>
          <p:cNvPr id="704" name="Num 4"/>
          <p:cNvSpPr/>
          <p:nvPr/>
        </p:nvSpPr>
        <p:spPr>
          <a:xfrm>
            <a:off x="723900" y="4213860"/>
            <a:ext cx="411480" cy="4114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605" name="Card 5"/>
          <p:cNvSpPr/>
          <p:nvPr/>
        </p:nvSpPr>
        <p:spPr>
          <a:xfrm>
            <a:off x="6248400" y="3810000"/>
            <a:ext cx="5334000" cy="12192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685800" tIns="91440" rIns="137160" bIns="91440" anchor="ctr"/>
          <a:lstStyle/>
          <a:p>
            <a:pPr>
              <a:buNone/>
            </a:pPr>
            <a:r>
              <a:rPr lang="en-US" sz="1500" b="1" dirty="0">
                <a:solidFill>
                  <a:srgbClr val="4DACBD"/>
                </a:solidFill>
                <a:latin typeface="Segoe UI Semibold"/>
              </a:rPr>
              <a:t>Subsidy Buffer Exists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Crude oil effect is inelastic (β=0.20), suggesting govt price buffers despite deregulation.</a:t>
            </a:r>
          </a:p>
        </p:txBody>
      </p:sp>
      <p:sp>
        <p:nvSpPr>
          <p:cNvPr id="705" name="Num 5"/>
          <p:cNvSpPr/>
          <p:nvPr/>
        </p:nvSpPr>
        <p:spPr>
          <a:xfrm>
            <a:off x="6362700" y="4213860"/>
            <a:ext cx="411480" cy="411480"/>
          </a:xfrm>
          <a:prstGeom prst="ellipse">
            <a:avLst/>
          </a:prstGeom>
          <a:solidFill>
            <a:srgbClr val="4DACBD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19839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hana Fuel Analysis">
      <a:dk1>
        <a:srgbClr val="1B2A4A"/>
      </a:dk1>
      <a:lt1>
        <a:srgbClr val="FFFFFF"/>
      </a:lt1>
      <a:dk2>
        <a:srgbClr val="2D3E5F"/>
      </a:dk2>
      <a:lt2>
        <a:srgbClr val="F0F3F7"/>
      </a:lt2>
      <a:accent1>
        <a:srgbClr val="1B6B93"/>
      </a:accent1>
      <a:accent2>
        <a:srgbClr val="E8A838"/>
      </a:accent2>
      <a:accent3>
        <a:srgbClr val="2EAF7D"/>
      </a:accent3>
      <a:accent4>
        <a:srgbClr val="D64045"/>
      </a:accent4>
      <a:accent5>
        <a:srgbClr val="7B68AE"/>
      </a:accent5>
      <a:accent6>
        <a:srgbClr val="4DACBD"/>
      </a:accent6>
      <a:hlink>
        <a:srgbClr val="467886"/>
      </a:hlink>
      <a:folHlink>
        <a:srgbClr val="96607D"/>
      </a:folHlink>
    </a:clrScheme>
    <a:fontScheme name="Professional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1B85EF-9B6E-4E02-BBDD-DB12ED116E50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51389C26C444E96D37C991807BA49" ma:contentTypeVersion="5" ma:contentTypeDescription="Create a new document." ma:contentTypeScope="" ma:versionID="f165e5ac4cf6e31e59a2ff7a8cf5f07f">
  <xsd:schema xmlns:xsd="http://www.w3.org/2001/XMLSchema" xmlns:xs="http://www.w3.org/2001/XMLSchema" xmlns:p="http://schemas.microsoft.com/office/2006/metadata/properties" xmlns:ns3="3f3e8201-8a17-427d-ae9f-b22c10a35505" targetNamespace="http://schemas.microsoft.com/office/2006/metadata/properties" ma:root="true" ma:fieldsID="9b7036a731317d9f28d4ffa9275e807c" ns3:_="">
    <xsd:import namespace="3f3e8201-8a17-427d-ae9f-b22c10a3550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3e8201-8a17-427d-ae9f-b22c10a3550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3e8201-8a17-427d-ae9f-b22c10a35505" xsi:nil="true"/>
  </documentManagement>
</p:properties>
</file>

<file path=customXml/itemProps1.xml><?xml version="1.0" encoding="utf-8"?>
<ds:datastoreItem xmlns:ds="http://schemas.openxmlformats.org/officeDocument/2006/customXml" ds:itemID="{C82883FC-3BB2-4D42-A5AA-9C5BC2DFC2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3e8201-8a17-427d-ae9f-b22c10a35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50B777-AE8E-4026-A875-13DD0751FC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F7AF68-E761-4C20-BA82-BAC0B74EF463}">
  <ds:schemaRefs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f3e8201-8a17-427d-ae9f-b22c10a3550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504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Segoe UI</vt:lpstr>
      <vt:lpstr>Segoe UI Semibold</vt:lpstr>
      <vt:lpstr>Office Theme</vt:lpstr>
      <vt:lpstr>Ghana Fuel Price Forecast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Ofosu-Arko</dc:creator>
  <cp:lastModifiedBy>David Ofosu-Arko</cp:lastModifiedBy>
  <cp:revision>1</cp:revision>
  <dcterms:created xsi:type="dcterms:W3CDTF">2026-03-06T09:31:57Z</dcterms:created>
  <dcterms:modified xsi:type="dcterms:W3CDTF">2026-03-06T10:08:51Z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0x010100AB951389C26C444E96D37C991807BA49</vt:lpwstr>
  </property>
</Properties>
</file>